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59" r:id="rId6"/>
    <p:sldId id="266" r:id="rId7"/>
    <p:sldId id="271" r:id="rId8"/>
    <p:sldId id="261" r:id="rId9"/>
    <p:sldId id="268" r:id="rId10"/>
    <p:sldId id="262" r:id="rId11"/>
    <p:sldId id="269" r:id="rId12"/>
    <p:sldId id="263" r:id="rId13"/>
    <p:sldId id="270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 de maturité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9141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Data Governance</c:v>
                </c:pt>
                <c:pt idx="1">
                  <c:v>Data Quality</c:v>
                </c:pt>
                <c:pt idx="2">
                  <c:v>Data Architecture</c:v>
                </c:pt>
                <c:pt idx="3">
                  <c:v>Compliance</c:v>
                </c:pt>
                <c:pt idx="4">
                  <c:v>Data Usage</c:v>
                </c:pt>
                <c:pt idx="5">
                  <c:v>Data Security</c:v>
                </c:pt>
                <c:pt idx="6">
                  <c:v>Data Literacy</c:v>
                </c:pt>
                <c:pt idx="7">
                  <c:v>Data Integration</c:v>
                </c:pt>
                <c:pt idx="8">
                  <c:v>Analytics &amp; BI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4-CE40-82F8-B8A4DC3786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C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252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 COMITÉ EXÉCUTIF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gouvernance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Politique, organisation et plan d'implémentation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du Chief Data Officer  ·  Mai 2026  ·  Version 1.0</a:t>
            </a:r>
            <a:endParaRPr lang="en-US" sz="1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8F221D3-D7F8-6D1E-7A10-33D40105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0" y="200025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M utilisateurs, 180 pays, un environnement réglementaire en accélération.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5780" y="1828800"/>
            <a:ext cx="2606040" cy="2377440"/>
          </a:xfrm>
          <a:prstGeom prst="rect">
            <a:avLst/>
          </a:prstGeom>
          <a:solidFill>
            <a:srgbClr val="F4F8F7"/>
          </a:solidFill>
          <a:ln w="6350">
            <a:solidFill>
              <a:srgbClr val="E0E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828800"/>
            <a:ext cx="73152" cy="2377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0866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 max sous RGPD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4 % du CA mondial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1828800"/>
            <a:ext cx="2606040" cy="2377440"/>
          </a:xfrm>
          <a:prstGeom prst="rect">
            <a:avLst/>
          </a:prstGeom>
          <a:solidFill>
            <a:srgbClr val="F4F8F7"/>
          </a:solidFill>
          <a:ln w="6350">
            <a:solidFill>
              <a:srgbClr val="E0E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0420" y="1828800"/>
            <a:ext cx="73152" cy="2377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4330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notification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violation de données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5060" y="1828800"/>
            <a:ext cx="2606040" cy="2377440"/>
          </a:xfrm>
          <a:prstGeom prst="rect">
            <a:avLst/>
          </a:prstGeom>
          <a:solidFill>
            <a:srgbClr val="F4F8F7"/>
          </a:solidFill>
          <a:ln w="6350">
            <a:solidFill>
              <a:srgbClr val="E0E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5060" y="1828800"/>
            <a:ext cx="73152" cy="2377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794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/ 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7794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maturité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 de Spotify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29700" y="1828800"/>
            <a:ext cx="2606040" cy="2377440"/>
          </a:xfrm>
          <a:prstGeom prst="rect">
            <a:avLst/>
          </a:prstGeom>
          <a:solidFill>
            <a:srgbClr val="F4F8F7"/>
          </a:solidFill>
          <a:ln w="6350">
            <a:solidFill>
              <a:srgbClr val="E0E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9700" y="1828800"/>
            <a:ext cx="73152" cy="2377440"/>
          </a:xfrm>
          <a:prstGeom prst="rect">
            <a:avLst/>
          </a:prstGeom>
          <a:solidFill>
            <a:srgbClr val="5DC9C0"/>
          </a:solidFill>
          <a:ln w="12700">
            <a:solidFill>
              <a:srgbClr val="5DC9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58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21258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opérés,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autant de régimes réglementaires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63440"/>
            <a:ext cx="73152" cy="1280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54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cadre de gouvernance unifié, Spotify cumule risques financiers, opérationnels et de réputation.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maintenant, c'est protéger 450 M utilisateurs et accélérer l'innovation produit.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maturité actuel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excelle en analytique avancée, mais souffre de silos et de gouvernance immature.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4023360" cy="182880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/ 5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95528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Reactive » à « Proactive 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566160"/>
            <a:ext cx="73152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 et ML de pointe (recommandation, Discover Weekly)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448056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4800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entre marketing, produit, contenu et engineering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5394960"/>
            <a:ext cx="73152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5440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5715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multi-juridictions et gouvernance algorithmique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où commencer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business case propose une approche par étapes ; trois priorités s'en dégagent.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7393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les rôles déjà nommés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3969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DPO, CDO, Head of Engineering, Marketing Director, Legal Team, Product Managers, Data Governance Committee : passer du rôle décrit dans un document au rôle avec un titulaire, un mandat clair et une cadence de réunion.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9125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pilote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55701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sur un département avant déploiement global, avec KPIs définis. Marketing est le meilleur candidat : fort enjeu RGPD/CCPA, impact business mesurable, ROI rapide.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60857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d'abord, le reste ensuite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97433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4 % du CA mondial sous RGPD, présence dans 180 pays : le risque financier et réputationnel y est le plus immédiat. Workflows DSAR, cadence d'audit, traçabilité des consentements.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en un coup d'œil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piliers, neuf principes, un objectif : faire de la donnée un actif sûr et fiable.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5780" y="17373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1737360"/>
            <a:ext cx="2606040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554480" y="3794760"/>
            <a:ext cx="54864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" y="3931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CCPA, PCI-DSS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DPO, DSAR, audits trimestriels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0420" y="17373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0420" y="1737360"/>
            <a:ext cx="2606040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042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389120" y="3794760"/>
            <a:ext cx="54864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43300" y="3931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Chiffrement, RBAC, MFA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classification 4 niveaux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95060" y="17373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5060" y="1737360"/>
            <a:ext cx="2606040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9506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223760" y="3794760"/>
            <a:ext cx="54864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77940" y="3931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monitoring continu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 Data Steward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29700" y="17373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29700" y="1737360"/>
            <a:ext cx="2606040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02970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058400" y="3794760"/>
            <a:ext cx="54864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212580" y="3931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CDO, DPO, Data Stewards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Gouvernance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principes    ·    4 niveaux de classification    ·    14 contrôles de conformité    ·    7 KPIs de pilotage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: qui fait quoi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hiérarchie claire et un comité transverse pour décloisonner.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0" y="137160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PDG / Comité Exécutif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514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Data Officer (CDO)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data globale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46888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Gouvernance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Mensuel au démarrage, puis trimestriel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01168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240280"/>
            <a:ext cx="4343400" cy="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24028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24028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3383280"/>
            <a:ext cx="0" cy="13716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3520440"/>
            <a:ext cx="5486400" cy="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4904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/ CCPA / DSAR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00200" y="35204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74904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/ RSSI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089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infrastructure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5204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374904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Juridique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521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réglementaire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35204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4617720"/>
            <a:ext cx="0" cy="27432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42516" y="4892040"/>
            <a:ext cx="8503920" cy="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4892040"/>
            <a:ext cx="1751076" cy="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" y="512064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— Marketing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" y="5532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 &amp; ciblage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42516" y="48920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4136" y="512064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— Produit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74136" y="5532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produit &amp; reco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77156" y="48920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8776" y="512064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— Finance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08776" y="5532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&amp; abonnements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11796" y="48920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43416" y="512064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43416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— Paiement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43416" y="5532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PCI-DSS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346436" y="4892040"/>
            <a:ext cx="0" cy="228600"/>
          </a:xfrm>
          <a:prstGeom prst="line">
            <a:avLst/>
          </a:prstGeom>
          <a:noFill/>
          <a:ln w="15240">
            <a:solidFill>
              <a:srgbClr val="1914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employés et sous-traitants  ·  Appliquent la politique  ·  Suivent la formation annuelle  ·  Signalent les incidents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6294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0" y="6629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Center of Excellence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 de Spotify — global, multi-marchés, multi-produits — c'est le seul modèle qui tient.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4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 SEUL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Sature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pôle data pour tout Spotify. Efficace au démarrage, mais devient un goulot d'étranglement à l'échelle globale.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4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 SEUL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des silos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métier gère ses données en autonomie. Rapide localement, mais recrée exactement le problème de fragmentation à résoudre.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9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RETENU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noyau central (CDO, DPO, Data Stewards de référence) fixe les standards ; des équipes data embarquées dans chaque métier appliquent. Cohérence + agilité.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progressive : Centralisé pendant le pilote (M0–M12), puis déploiement des équipes embarquées au fil du rollout (M12–M24).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organisationnel &amp; stack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 maintenant pour poser les fondations, Center of Excellence à 12-24 mois.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organisationnelle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du CDO porte le programme. Politiques, standards, qualité.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M12–M24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central + équipes data dans chaque domaine. Cohérence + agilité.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5DC9C0"/>
          </a:solidFill>
          <a:ln w="12700">
            <a:solidFill>
              <a:srgbClr val="5DC9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mature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embarquée dans chaque BU, avec MDM unifié.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0" cy="4663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recommandée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694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2694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2694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Data Quality + dbt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2694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94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2694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/ SIEM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2694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726948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26948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Vormetric (Thales)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26948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gouvernance IA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269480" y="6080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Évidently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77EF3BBF-194D-03F1-D1B1-48C561FCE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920" y="6263640"/>
            <a:ext cx="572218" cy="60375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8EB3E77B-0537-D231-DC52-7A5E4E201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087" y="5889922"/>
            <a:ext cx="572218" cy="381478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9BF5A3BD-1EF2-728C-6989-62CF3D64E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432" y="4782493"/>
            <a:ext cx="572502" cy="444754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DE0BE15C-5C38-5C3F-691C-903E7FC13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15" y="4036200"/>
            <a:ext cx="555177" cy="609854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ED8B0395-0E96-D10A-4C82-727C959CF6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0009" y="3396120"/>
            <a:ext cx="681925" cy="709422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B46D53D0-8BB5-9ECD-ECEF-E41BAAFCE4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060" y="5275029"/>
            <a:ext cx="399822" cy="651764"/>
          </a:xfrm>
          <a:prstGeom prst="rect">
            <a:avLst/>
          </a:prstGeom>
        </p:spPr>
      </p:pic>
      <p:sp>
        <p:nvSpPr>
          <p:cNvPr id="22" name="Text 20"/>
          <p:cNvSpPr/>
          <p:nvPr/>
        </p:nvSpPr>
        <p:spPr>
          <a:xfrm>
            <a:off x="7269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2694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6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B351A352-A46A-160C-6BE2-F58F4E6F05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6354" y="2137623"/>
            <a:ext cx="789709" cy="444207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DCE0BD17-66DA-844D-1AFA-D011A37F3D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169" y="2786701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— le détail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commune, cinq besoins de gouvernance, un outil principal retenu pour chacun.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384048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44368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retenu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47488" y="182880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données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44368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47488" y="2212848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taillé pour les gros volumes d'usage (streaming) et les besoins ML/reco ; gouvernance native (Unity Catalog).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données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4368" y="28712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47488" y="2871216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data cataloging et de la stewardship pour des organisations globales.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5295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35295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+ dbt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47488" y="3529584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Intégration, nettoyage, déduplication ; dbt industrialise les tests qualité et le lineage dans le warehouse.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879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44368" y="4187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du marché : consentement, data mapping, couverture RGPD/CCPA et au-delà.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4846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44368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Vormetric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47488" y="4846320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pour la visibilité SIEM ; Vormetric pour le chiffrement des bases sensibles (PCI-DSS).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04688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5046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gouvernance 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44368" y="5504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Évidently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5504688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et registre de modèles ; monitoring de la qualité et du drift en production.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163056"/>
            <a:ext cx="1109167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déploiement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ciblé, puis 5 vagues de déploiement sur 24 mois.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069848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8468" y="2971800"/>
            <a:ext cx="329184" cy="329184"/>
          </a:xfrm>
          <a:prstGeom prst="ellipse">
            <a:avLst/>
          </a:prstGeom>
          <a:solidFill>
            <a:srgbClr val="1DB9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743200"/>
            <a:ext cx="0" cy="22860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58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58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1548" y="2971800"/>
            <a:ext cx="329184" cy="329184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6140" y="3300984"/>
            <a:ext cx="0" cy="173736"/>
          </a:xfrm>
          <a:prstGeom prst="line">
            <a:avLst/>
          </a:prstGeom>
          <a:noFill/>
          <a:ln w="1524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890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890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M7–M9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8900" y="4023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4628" y="2971800"/>
            <a:ext cx="329184" cy="329184"/>
          </a:xfrm>
          <a:prstGeom prst="ellipse">
            <a:avLst/>
          </a:prstGeom>
          <a:solidFill>
            <a:srgbClr val="1ABC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9220" y="2743200"/>
            <a:ext cx="0" cy="228600"/>
          </a:xfrm>
          <a:prstGeom prst="line">
            <a:avLst/>
          </a:prstGeom>
          <a:noFill/>
          <a:ln w="1524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198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119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M10–M12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198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07708" y="2971800"/>
            <a:ext cx="329184" cy="329184"/>
          </a:xfrm>
          <a:prstGeom prst="ellipse">
            <a:avLst/>
          </a:prstGeom>
          <a:solidFill>
            <a:srgbClr val="5DC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72300" y="3300984"/>
            <a:ext cx="0" cy="173736"/>
          </a:xfrm>
          <a:prstGeom prst="line">
            <a:avLst/>
          </a:prstGeom>
          <a:noFill/>
          <a:ln w="15240">
            <a:solidFill>
              <a:srgbClr val="5DC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50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506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M13–M15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5060" y="4023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90788" y="2971800"/>
            <a:ext cx="329184" cy="329184"/>
          </a:xfrm>
          <a:prstGeom prst="ellipse">
            <a:avLst/>
          </a:prstGeom>
          <a:solidFill>
            <a:srgbClr val="5DADE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55380" y="2743200"/>
            <a:ext cx="0" cy="228600"/>
          </a:xfrm>
          <a:prstGeom prst="line">
            <a:avLst/>
          </a:prstGeom>
          <a:noFill/>
          <a:ln w="15240">
            <a:solidFill>
              <a:srgbClr val="5DA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814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781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M16–M18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7814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373868" y="2971800"/>
            <a:ext cx="329184" cy="329184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38460" y="3300984"/>
            <a:ext cx="0" cy="173736"/>
          </a:xfrm>
          <a:prstGeom prst="line">
            <a:avLst/>
          </a:prstGeom>
          <a:noFill/>
          <a:ln w="15240">
            <a:solidFill>
              <a:srgbClr val="3498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12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6122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M19–M24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61220" y="4023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F4F8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257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8640" y="57150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critiques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61488" y="5349240"/>
            <a:ext cx="0" cy="822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61488" y="5257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761488" y="57150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 dans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délais légaux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74336" y="5349240"/>
            <a:ext cx="0" cy="822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5257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974336" y="57150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catalogue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87184" y="5349240"/>
            <a:ext cx="0" cy="822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5257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187184" y="57150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d'accès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données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400032" y="5349240"/>
            <a:ext cx="0" cy="8229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00032" y="5257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+30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400032" y="57150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interne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Marketing — pourquoi et périmètre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pour valider le cadre avant le déploiement global.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MARKETING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données utilisateur (fort enjeu RGPD/CCPA), une vraie demande métier sur la qualité des audiences, un ROI qui se mesure vite. Un département qui dialogue avec presque toute l'organisation — utile pour essaimer ensuite.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770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User Engagement Data (sessions, écoutes, interactions) et données d'audience marketing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439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: Marketing, Product Analytics, IT, Légal/Privacy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138928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010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: paiement (PCI-DSS) et catalogue Content/Artist — traités après le pilote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330952" cy="4206240"/>
          </a:xfrm>
          <a:prstGeom prst="roundRect">
            <a:avLst>
              <a:gd name="adj" fmla="val 1739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DU PILOTE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4323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qualité des données — avant/après sur complétude, exactitude, cohérence, traçabilité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31181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118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30175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conformité RGPD/CCPA — écarts identifiés et actions correctives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38039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703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d'intégration technique — architecture déployée, sources connectées, accès configurés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44897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489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43891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risques — mesures de mitigation et statut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51755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175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50749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des parties prenantes — feedback Marketing, frictions, suggestions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Investissement, valeur, risques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grandes questions du Comité, trois réponses chiffrées.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4340" y="169164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691640"/>
            <a:ext cx="361188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0302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0302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3,2 M$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08660" y="2880360"/>
            <a:ext cx="3063240" cy="0"/>
          </a:xfrm>
          <a:prstGeom prst="line">
            <a:avLst/>
          </a:prstGeom>
          <a:noFill/>
          <a:ln w="12700">
            <a:solidFill>
              <a:srgbClr val="E0E6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315468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98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(6 mois)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2980" y="3355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M$ — équipe, conseil, change mgmt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8660" y="393192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298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annuelles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2980" y="41330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M$ — Collibra, Talend, OneTrust, Splunk, Databricks, Vormetric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8660" y="4709160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2980" y="4617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coût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2980" y="4910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amorti dès la 2e année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74820" y="169164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74820" y="1691640"/>
            <a:ext cx="3611880" cy="731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4350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ATTENDUE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14350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&gt; 3×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4549140" y="2880360"/>
            <a:ext cx="3063240" cy="0"/>
          </a:xfrm>
          <a:prstGeom prst="line">
            <a:avLst/>
          </a:prstGeom>
          <a:noFill/>
          <a:ln w="12700">
            <a:solidFill>
              <a:srgbClr val="E0E6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49140" y="315468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2346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 d'amendes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823460" y="3355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RGPD jusqu'à 20 M€ par incident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49140" y="393192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2346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 opérationnelle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823460" y="41330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Décloisonnement, accès accéléré aux données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49140" y="470916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23460" y="4617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utilisateur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823460" y="4910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de rétention et de premiumisation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15300" y="169164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5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115300" y="1691640"/>
            <a:ext cx="361188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98398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MITIGATION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898398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Maîtrisés</a:t>
            </a:r>
            <a:endParaRPr lang="en-US" sz="2400" dirty="0"/>
          </a:p>
        </p:txBody>
      </p:sp>
      <p:sp>
        <p:nvSpPr>
          <p:cNvPr id="39" name="Shape 34"/>
          <p:cNvSpPr/>
          <p:nvPr/>
        </p:nvSpPr>
        <p:spPr>
          <a:xfrm>
            <a:off x="8389620" y="2880360"/>
            <a:ext cx="3063240" cy="0"/>
          </a:xfrm>
          <a:prstGeom prst="line">
            <a:avLst/>
          </a:prstGeom>
          <a:noFill/>
          <a:ln w="12700">
            <a:solidFill>
              <a:srgbClr val="E0E6E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389620" y="315468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6394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8663940" y="3355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Ambassadeurs Data + change management dès M0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8389620" y="393192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66394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technique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8663940" y="41330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en M2, environnement isolé, rollback prévu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389620" y="47091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663940" y="4617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Glissement de périmètre</a:t>
            </a:r>
            <a:endParaRPr lang="en-US" sz="1300" dirty="0"/>
          </a:p>
        </p:txBody>
      </p:sp>
      <p:sp>
        <p:nvSpPr>
          <p:cNvPr id="48" name="Text 43"/>
          <p:cNvSpPr/>
          <p:nvPr/>
        </p:nvSpPr>
        <p:spPr>
          <a:xfrm>
            <a:off x="8663940" y="4910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pilote signée, revues mensuelles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détaillé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scénarios : pilote (6 mois, Marketing) et cible full-org (run-rate annuel après rollout).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908792" cy="384048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84448" y="1874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(6 mois)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50608" y="187452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full-org (run-rate/an)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(7 postes)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84448" y="2258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– 430 K$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50608" y="225856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annuel, cf.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0908792" cy="548640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07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d'intégration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2807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à 50 % en année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0608" y="280720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908792" cy="548640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55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indicatif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3355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 – 560 K$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335584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consolider (Databricks/Splunk = variable, volumétrie 600 M+ utilisateurs)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CHIFFRÉ DANS CE TABLEAU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RH de l'équipe CoE (≈ 4 à 6 ETP sur le pilote), infrastructure cloud sous-jacente à Databricks (facturée séparément), et brique MLOps &amp; IA (chiffrage préliminaire à consolider en prochaine révision budgétaire).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sur devis pour la plupart des éditeurs ; Databricks et Splunk facturés à la consommation. Montants en USD, ordres de grandeur indicatifs (sources éditeurs et Vendr), à confirmer par devis.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DEMANDÉE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Faisons de la donnée un actif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sûr, fiable et stratégique.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cadre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Politique, principes, organigramme, matrice de conformité.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8308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 budget pilote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M$ sur 6 mois, validation Direction Financière.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93776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pilote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83080" y="5349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Data — Marketing, kick-off le 1er juin 2026.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data-governance@spotify.com   ·   Direction du Chief Data Officer   ·   Mai 2026</a:t>
            </a:r>
            <a:endParaRPr lang="en-US" sz="11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B42F5A3-D6C0-01AC-C47D-94B4D210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30" y="210312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1643</Words>
  <Application>Microsoft Macintosh PowerPoint</Application>
  <PresentationFormat>Grand écran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— Gouvernance des Données</dc:title>
  <dc:subject>PptxGenJS Presentation</dc:subject>
  <dc:creator>Direction de la Gouvernance des Données — Spotify</dc:creator>
  <cp:lastModifiedBy>Patrice DUCLOS</cp:lastModifiedBy>
  <cp:revision>9</cp:revision>
  <dcterms:created xsi:type="dcterms:W3CDTF">2026-05-04T17:35:05Z</dcterms:created>
  <dcterms:modified xsi:type="dcterms:W3CDTF">2026-07-15T08:38:58Z</dcterms:modified>
</cp:coreProperties>
</file>