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48"/>
    <p:restoredTop sz="94610"/>
  </p:normalViewPr>
  <p:slideViewPr>
    <p:cSldViewPr snapToGrid="0" snapToObjects="1">
      <p:cViewPr varScale="1">
        <p:scale>
          <a:sx n="284" d="100"/>
          <a:sy n="284" d="100"/>
        </p:scale>
        <p:origin x="200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 de maturité (/5)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9141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Data Governance</c:v>
                </c:pt>
                <c:pt idx="1">
                  <c:v>Data Quality</c:v>
                </c:pt>
                <c:pt idx="2">
                  <c:v>Data Architecture</c:v>
                </c:pt>
                <c:pt idx="3">
                  <c:v>Compliance</c:v>
                </c:pt>
                <c:pt idx="4">
                  <c:v>Data Usage</c:v>
                </c:pt>
                <c:pt idx="5">
                  <c:v>Data Security</c:v>
                </c:pt>
                <c:pt idx="6">
                  <c:v>Data Literacy</c:v>
                </c:pt>
                <c:pt idx="7">
                  <c:v>Data Integration</c:v>
                </c:pt>
                <c:pt idx="8">
                  <c:v>Analytics &amp; BI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6-5248-A80B-46688ECC8D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C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17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DUCLOS/BLOC1-SPOTIF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 COMITÉ EXÉCUTIF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gouvernance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Politique, organisation et plan d'implémentation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du Chief Data Officer  ·  Mai 2026  ·  Version 2.0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6339683" y="6275070"/>
            <a:ext cx="548626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CCD3DD"/>
                </a:solidFill>
              </a:rPr>
              <a:t>Code source &amp; livrables : </a:t>
            </a:r>
            <a:r>
              <a:rPr sz="1100" b="1">
                <a:solidFill>
                  <a:srgbClr val="7FD3FF"/>
                </a:solidFill>
                <a:hlinkClick r:id="rId3"/>
              </a:rPr>
              <a:t>github.com/PDUCLOS/BLOC1-SPOTIFY</a:t>
            </a:r>
          </a:p>
        </p:txBody>
      </p:sp>
      <p:pic>
        <p:nvPicPr>
          <p:cNvPr id="8" name="Picture 7" descr="spotify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469932"/>
            <a:ext cx="1920239" cy="1918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M utilisateurs actifs (dont 200 M Premium), 180 pays, un environnement réglementaire en accélération.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 max sous RGPD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4 % du CA mondial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violation de 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/ 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maturité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 de Spotify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65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opérés,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autant de régimes réglementaires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9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cadre de gouvernance unifié, Spotify cumule risques financiers, opérationnels et de réputation. Agir maintenant, c'est protéger 450 M utilisateurs et accélérer l'innovation produit.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maturité actuel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excelle en analytique avancée, mais souffre de silos et de gouvernance immature.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73736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91414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/ 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63524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Identifié » à « Cadré 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60920" y="3200400"/>
            <a:ext cx="54864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3474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 et ML de pointe (recommandation, Discover Weekly)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416052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entre marketing, produit, contenu et engineering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5120640"/>
            <a:ext cx="54864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5120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8952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multi-juridictions et gouvernance algorithmique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où commencer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business case propose une approche par étapes ; trois priorités s'en dégagent.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7393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les rôles déjà nommés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3969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DPO, CDO, Head of Engineering, Marketing Director, Legal Team, Product Managers, Data Governance Committee : passer du rôle décrit dans un document au rôle avec un titulaire, un mandat clair et une cadence de réunion.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9125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pilote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55701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pilote sur un département avant déploiement global, avec KPIs définis. Marketing est le meilleur candidat : fort enjeu RGPD/CCPA, impact business mesurable, ROI rapide.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608576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d'abord, le reste ensuite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974336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4 % du CA mondial sous RGPD, présence dans 180 pays : le risque financier et réputationnel y est le plus immédiat. Workflows DSAR, cadence d'audit, traçabilité des consentements.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en un coup d'œil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piliers, neuf principes, un objectif : faire de la donnée un actif sûr et fiable.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82296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11096"/>
            <a:ext cx="2606040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31620" y="3584448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CCPA, PCI-DSS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DPO, DSAR, audits trimestriels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82296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11096"/>
            <a:ext cx="2606040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66260" y="3584448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Chiffrement, RBAC, MFA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classification 4 niveaux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82296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911096"/>
            <a:ext cx="2606040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00900" y="3584448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monitoring continu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 Data Steward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82296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911096"/>
            <a:ext cx="2606040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35540" y="3584448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CDO, DPO, Data Stewards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Gouvernance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principes</a:t>
            </a:r>
            <a:r>
              <a:rPr lang="en-US" sz="1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4 niveaux de classification    ·    14 contrôles de conformité    ·    </a:t>
            </a: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KPIs de pilotage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: qui fait quoi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hiérarchie claire et un comité transverse pour décloisonner.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2104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Gouvernance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3BE1FA24-E8C1-F996-9A16-DB11328A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385" y="1463039"/>
            <a:ext cx="8251298" cy="4776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Center of Excellence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 de Spotify — global, multi-marchés, multi-produits — c'est le seul modèle qui tient.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4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 SEUL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Sature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pôle data pour tout Spotify. Efficace au démarrage, mais devient un goulot d'étranglement à l'échelle globale.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4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 SEUL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des silos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métier gère ses données en autonomie. Rapide localement, mais recrée exactement le problème de fragmentation à résoudre.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9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RETENU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D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noyau central (CDO, DPO, Data Stewards de référence) fixe les standards ; des équipes data embarquées dans chaque métier appliquent. Cohérence + agilité.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progressive : Centralisé pendant le pilote (M0–M12), puis déploiement des équipes embarquées au fil du rollout (M12–M24).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organisationnel &amp; stack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 maintenant pour poser les fondations, Center of Excellence à 12-24 mois.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organisationnelle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4597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825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du CDO porte le programme. Politiques, standards, qualité.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M12–M24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7398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056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central + équipes data dans chaque domaine. Cohérence + agilité.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782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5DC9C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0200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mature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3858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embarquée dans chaque BU, avec MDM unifié.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recommandée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2167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368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734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2935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3009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3502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Data Quality + dbt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867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/ SIEM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4636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5001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5202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Vormetric (Thales)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55686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gouvernance IA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5769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Évidently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45" name="Picture 44" descr="databricks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84667"/>
            <a:ext cx="480000" cy="268970"/>
          </a:xfrm>
          <a:prstGeom prst="rect">
            <a:avLst/>
          </a:prstGeom>
        </p:spPr>
      </p:pic>
      <p:pic>
        <p:nvPicPr>
          <p:cNvPr id="46" name="Picture 45" descr="collibra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097" y="2796080"/>
            <a:ext cx="380526" cy="379999"/>
          </a:xfrm>
          <a:prstGeom prst="rect">
            <a:avLst/>
          </a:prstGeom>
        </p:spPr>
      </p:pic>
      <p:pic>
        <p:nvPicPr>
          <p:cNvPr id="47" name="Picture 46" descr="talend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360" y="3363008"/>
            <a:ext cx="380000" cy="380000"/>
          </a:xfrm>
          <a:prstGeom prst="rect">
            <a:avLst/>
          </a:prstGeom>
        </p:spPr>
      </p:pic>
      <p:pic>
        <p:nvPicPr>
          <p:cNvPr id="48" name="Picture 47" descr="onetrust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360" y="3929936"/>
            <a:ext cx="380000" cy="380000"/>
          </a:xfrm>
          <a:prstGeom prst="rect">
            <a:avLst/>
          </a:prstGeom>
        </p:spPr>
      </p:pic>
      <p:pic>
        <p:nvPicPr>
          <p:cNvPr id="49" name="Picture 48" descr="splunk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873" y="4496864"/>
            <a:ext cx="418974" cy="380000"/>
          </a:xfrm>
          <a:prstGeom prst="rect">
            <a:avLst/>
          </a:prstGeom>
        </p:spPr>
      </p:pic>
      <p:pic>
        <p:nvPicPr>
          <p:cNvPr id="50" name="Picture 49" descr="vormetric_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6265" y="5063792"/>
            <a:ext cx="226190" cy="380000"/>
          </a:xfrm>
          <a:prstGeom prst="rect">
            <a:avLst/>
          </a:prstGeom>
        </p:spPr>
      </p:pic>
      <p:pic>
        <p:nvPicPr>
          <p:cNvPr id="51" name="Picture 50" descr="mlflow_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360" y="5751282"/>
            <a:ext cx="220000" cy="138875"/>
          </a:xfrm>
          <a:prstGeom prst="rect">
            <a:avLst/>
          </a:prstGeom>
        </p:spPr>
      </p:pic>
      <p:pic>
        <p:nvPicPr>
          <p:cNvPr id="52" name="Picture 51" descr="evidently_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9360" y="5710720"/>
            <a:ext cx="220000" cy="2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— le détail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commune, cinq besoins de gouvernance, un outil principal retenu pour chacun.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384048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44368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retenu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47488" y="182880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données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44368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47488" y="2212848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taillé pour les gros volumes d'usage (streaming) et les besoins ML/reco ; gouvernance native (Unity Catalog).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données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44368" y="28712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47488" y="2871216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data cataloging et de la stewardship pour des organisations globales.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5295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35295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+ dbt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47488" y="3529584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Intégration, nettoyage, déduplication ; dbt industrialise les tests qualité et le lineage dans le warehouse.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879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44368" y="4187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du marché : consentement, data mapping, couverture RGPD/CCPA et au-delà.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4846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44368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Vormetric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47488" y="4846320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pour la visibilité SIEM ; Vormetric pour le chiffrement des bases sensibles (PCI-DSS).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04688"/>
            <a:ext cx="11091672" cy="65836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5046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gouvernance 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44368" y="5504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Évidently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5504688"/>
            <a:ext cx="6483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et registre de modèles ; monitoring de la qualité et du drift en production.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163056"/>
            <a:ext cx="1109167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déploiement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ciblé, puis 3 vagues de déploiement sur 18 mois.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0515600" cy="0"/>
          </a:xfrm>
          <a:prstGeom prst="line">
            <a:avLst/>
          </a:prstGeom>
          <a:noFill/>
          <a:ln w="254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551176"/>
            <a:ext cx="201168" cy="201168"/>
          </a:xfrm>
          <a:prstGeom prst="ellipse">
            <a:avLst/>
          </a:prstGeom>
          <a:solidFill>
            <a:srgbClr val="1DB9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" y="28529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7576" y="2551176"/>
            <a:ext cx="201168" cy="201168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092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092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M7–M10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0920" y="28529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32776" y="2551176"/>
            <a:ext cx="201168" cy="201168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612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5612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M11–M14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56120" y="28529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237976" y="2551176"/>
            <a:ext cx="201168" cy="201168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6132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M15–M18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61320" y="28529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RH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calé sur l'adjacence métier et la sensibilité réglementaire : Produit d'abord (gain rapide sur la reco), Paiement ensuite (les standards qualité/sécurité sont rodés), Content/RH/Support en dernier (périmètres moins critiques).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2130552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434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critiques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25496" y="4114800"/>
            <a:ext cx="2130552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26" name="Text 24"/>
          <p:cNvSpPr/>
          <p:nvPr/>
        </p:nvSpPr>
        <p:spPr>
          <a:xfrm>
            <a:off x="2825496" y="43434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916936" y="498348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 dans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délais légaux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02352" y="4114800"/>
            <a:ext cx="2130552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43434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93792" y="498348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catalogue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79208" y="4114800"/>
            <a:ext cx="2130552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32" name="Text 30"/>
          <p:cNvSpPr/>
          <p:nvPr/>
        </p:nvSpPr>
        <p:spPr>
          <a:xfrm>
            <a:off x="7379208" y="43434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0648" y="498348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d'accès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données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56064" y="4114800"/>
            <a:ext cx="2130552" cy="1737360"/>
          </a:xfrm>
          <a:prstGeom prst="roundRect">
            <a:avLst>
              <a:gd name="adj" fmla="val 4211"/>
            </a:avLst>
          </a:prstGeom>
          <a:solidFill>
            <a:srgbClr val="F4F8F7"/>
          </a:solidFill>
          <a:ln/>
        </p:spPr>
      </p:sp>
      <p:sp>
        <p:nvSpPr>
          <p:cNvPr id="35" name="Text 33"/>
          <p:cNvSpPr/>
          <p:nvPr/>
        </p:nvSpPr>
        <p:spPr>
          <a:xfrm>
            <a:off x="9656064" y="43434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+30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747504" y="498348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interne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Marketing — pourquoi et périmètre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pour valider le cadre avant le déploiement global.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MARKETING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données utilisateur (fort enjeu RGPD/CCPA), une vraie demande métier sur la qualité des audiences, un ROI qui se mesure vite. Un département qui dialogue avec presque toute l'organisation — utile pour essaimer ensuite.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770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User Engagement Data (sessions, écoutes, interactions) et données d'audience marketing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439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: Marketing, Product Analytics, IT, Légal/Privacy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138928"/>
            <a:ext cx="82296" cy="82296"/>
          </a:xfrm>
          <a:prstGeom prst="ellipse">
            <a:avLst/>
          </a:prstGeom>
          <a:solidFill>
            <a:srgbClr val="3A3F4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010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: paiement (PCI-DSS) et catalogue Content/Artist — traités après le pilote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330952" cy="4206240"/>
          </a:xfrm>
          <a:prstGeom prst="roundRect">
            <a:avLst>
              <a:gd name="adj" fmla="val 1739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DU PILOTE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4323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qualité des données — avant/après sur complétude, exactitude, cohérence, traçabilité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31181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118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30175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conformité RGPD/CCPA — écarts identifiés et actions correctives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38039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37033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d'intégration technique — architecture déployée, sources connectées, accès configurés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44897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489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43891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risques — mesures de mitigation et statut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5175504"/>
            <a:ext cx="201168" cy="201168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175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50749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des parties prenantes — feedback Marketing, frictions, suggestions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Investissement, valeur, risques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grandes questions du Comité, trois réponses chiffrées.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350–560 K$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944368"/>
            <a:ext cx="118872" cy="118872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83464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(6 mois)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3099816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(7 outils) + intégration, hors équipe CoE (4–6 ETP)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8872" cy="118872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7307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full-org (run-rate/an)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3995928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– 5,8 M$ — Databricks, Collibra, Talend, OneTrust, Splunk, Vormetric, dbt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736592"/>
            <a:ext cx="118872" cy="118872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6268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coût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489204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par vagues, arbitrée après le pilote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ATTENDUE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121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&gt; 3×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43400" y="2944368"/>
            <a:ext cx="118872" cy="11887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283464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 d'amendes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3099816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RGPD jusqu'à 20 M€ par incident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118872" cy="11887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1" name="Text 19"/>
          <p:cNvSpPr/>
          <p:nvPr/>
        </p:nvSpPr>
        <p:spPr>
          <a:xfrm>
            <a:off x="4562856" y="37307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 opérationnelle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2856" y="3995928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Décloisonnement, accès accéléré aux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4736592"/>
            <a:ext cx="118872" cy="11887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4" name="Text 22"/>
          <p:cNvSpPr/>
          <p:nvPr/>
        </p:nvSpPr>
        <p:spPr>
          <a:xfrm>
            <a:off x="4562856" y="46268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utilisateur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62856" y="489204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de rétention et de premiumisation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MITIGATION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2121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Maîtrisés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138160" y="2944368"/>
            <a:ext cx="118872" cy="1188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8357616" y="283464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7616" y="3099816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Ambassadeurs Data + change management dès M0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840480"/>
            <a:ext cx="118872" cy="1188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7307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technique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57616" y="3995928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en M2, environnement isolé, rollback prévu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4736592"/>
            <a:ext cx="118872" cy="1188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8357616" y="46268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Glissement de périmètre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57616" y="4892040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pilote signée, revues mensuelles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détaillé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scénarios : pilote (6 mois, Marketing) et cible full-org (run-rate annuel après rollout).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908792" cy="384048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84448" y="1874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(6 mois)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50608" y="1874520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full-org (run-rate/an)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(7 postes)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84448" y="2258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– 430 K$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50608" y="225856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– 5,8 M$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0908792" cy="548640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07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d'intégration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2807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à 50 % en année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0608" y="280720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908792" cy="548640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55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indicatif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3355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 – 560 K$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3355848"/>
            <a:ext cx="4197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2,1 – 5,8 M$/an — à consolider (Databricks/Splunk à la consommation, 450 M utilisateurs)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CHIFFRÉ DANS CE TABLEAU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RH de l'équipe CoE (≈ 4 à 6 ETP sur le pilote), infrastructure cloud sous-jacente à Databricks (facturée séparément), et brique MLOps &amp; IA (chiffrage préliminaire à consolider en prochaine révision budgétaire).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sur devis pour la plupart des éditeurs ; Databricks et Splunk facturés à la consommation. Montants en USD, ordres de grandeur indicatifs (sources éditeurs et Vendr), à confirmer par devis.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Gouvernance des Données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DEMANDÉE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Faisons de la donnée un actif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sûr, fiable et stratégique.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64261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cadre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008376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Politique, principes, organigramme, matrice de conformité.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51129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 budget pilote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877056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350–560 K$ (licences + intégration) + équipe CoE de 4 à 6 ETP, validation Direction Financière.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7997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pilote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745736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Data — Marketing, kick-off sous 30 jours après validation du Comité.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data-governance@spotify.com   ·   Direction du Chief Data Officer   ·   Mai 2026</a:t>
            </a:r>
            <a:endParaRPr lang="en-US" sz="1050" dirty="0"/>
          </a:p>
        </p:txBody>
      </p:sp>
      <p:pic>
        <p:nvPicPr>
          <p:cNvPr id="19" name="Picture 18" descr="spotif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378742"/>
            <a:ext cx="2377440" cy="23748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1651</Words>
  <Application>Microsoft Macintosh PowerPoint</Application>
  <PresentationFormat>Grand écran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Patrice DUCLOS</cp:lastModifiedBy>
  <cp:revision>2</cp:revision>
  <dcterms:created xsi:type="dcterms:W3CDTF">2026-07-15T09:14:16Z</dcterms:created>
  <dcterms:modified xsi:type="dcterms:W3CDTF">2026-09-29T08:16:15Z</dcterms:modified>
</cp:coreProperties>
</file>